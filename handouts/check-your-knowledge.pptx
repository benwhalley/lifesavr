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6" Type="http://schemas.openxmlformats.org/officeDocument/2006/relationships/viewProps" Target="viewProps.xml" /><Relationship Id="rId1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8" Type="http://schemas.openxmlformats.org/officeDocument/2006/relationships/tableStyles" Target="tableStyles.xml" /><Relationship Id="rId1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lifesavR ‘Check your knowledge’ questions and answers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Ben Whalley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your knowledge Q and 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Teachers’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week we pose ‘check your knowledge’ questions.</a:t>
            </a:r>
          </a:p>
          <a:p>
            <a:pPr lvl="0" indent="0" marL="0">
              <a:buNone/>
            </a:pPr>
            <a:r>
              <a:rPr/>
              <a:t>This presentation includes the answers to each question, designed to be used as a group Q/A exercise in-class.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do you run part of a line of R code using the keyboard short cut?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Select just that part, and press </a:t>
            </a:r>
            <a:r>
              <a:rPr>
                <a:latin typeface="Courier"/>
              </a:rPr>
              <a:t>ctrl+Enter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library will you always need to load in your first RMarkdown chunk?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tidyverse</a:t>
            </a:r>
            <a:r>
              <a:rPr/>
              <a:t>, loaded with </a:t>
            </a:r>
            <a:r>
              <a:rPr>
                <a:latin typeface="Courier"/>
              </a:rPr>
              <a:t>library(tidyverse)</a:t>
            </a:r>
            <a:r>
              <a:rPr/>
              <a:t> (and often also </a:t>
            </a:r>
            <a:r>
              <a:rPr>
                <a:latin typeface="Courier"/>
              </a:rPr>
              <a:t>library(psydata)</a:t>
            </a:r>
            <a:r>
              <a:rPr/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</a:t>
            </a:r>
            <a:r>
              <a:rPr>
                <a:latin typeface="Courier"/>
              </a:rPr>
              <a:t>psydata</a:t>
            </a:r>
            <a:r>
              <a:rPr/>
              <a:t>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package we provide which includes example datasets.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would you look at/inspect a whole dataset?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Just type the name of the dataset and ‘run’ it. In RStudio this provides a data-viewer window.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does </a:t>
            </a:r>
            <a:r>
              <a:rPr>
                <a:latin typeface="Courier"/>
              </a:rPr>
              <a:t>glimpse()</a:t>
            </a:r>
            <a:r>
              <a:rPr/>
              <a:t> do and when is it useful?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provides a preview of all the columns in a dataset, showing the type and first few values of each.</a:t>
            </a:r>
          </a:p>
          <a:p>
            <a:pPr lvl="0" indent="0" marL="0">
              <a:buNone/>
            </a:pPr>
            <a:r>
              <a:rPr/>
              <a:t>It’s useful when you have a lot of columns in a dataset which would otherwise be too wide to view on screen.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5th column in the </a:t>
            </a:r>
            <a:r>
              <a:rPr>
                <a:latin typeface="Courier"/>
              </a:rPr>
              <a:t>development</a:t>
            </a:r>
            <a:r>
              <a:rPr/>
              <a:t> dataset?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psydata</a:t>
            </a:r>
            <a:r>
              <a:rPr>
                <a:solidFill>
                  <a:srgbClr val="4070A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development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names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.[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pander</a:t>
            </a:r>
            <a:r>
              <a:rPr>
                <a:solidFill>
                  <a:srgbClr val="4070A0"/>
                </a:solidFill>
                <a:latin typeface="Courier"/>
              </a:rPr>
              <a:t>::</a:t>
            </a:r>
            <a:r>
              <a:rPr>
                <a:solidFill>
                  <a:srgbClr val="06287E"/>
                </a:solidFill>
                <a:latin typeface="Courier"/>
              </a:rPr>
              <a:t>pandoc.verbatim</a:t>
            </a:r>
            <a:r>
              <a:rPr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`population`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makes a plot? (there are many, but we mean the one shown in the worksheet)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ggplot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chooses the columns of data used in the plot?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aes()</a:t>
            </a:r>
            <a:r>
              <a:rPr/>
              <a:t> function allows us to choose which variables are used for each axis on the plot.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2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</a:t>
            </a:r>
            <a:r>
              <a:rPr>
                <a:latin typeface="Courier"/>
              </a:rPr>
              <a:t>&lt;-</a:t>
            </a:r>
            <a:r>
              <a:rPr/>
              <a:t> symbol called and what does it do?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</a:t>
            </a:r>
            <a:r>
              <a:rPr b="1"/>
              <a:t>assignment operator</a:t>
            </a:r>
            <a:r>
              <a:rPr/>
              <a:t>. It stores the result from its right-hand side in the variable named on the left.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</a:t>
            </a:r>
            <a:r>
              <a:rPr>
                <a:latin typeface="Courier"/>
              </a:rPr>
              <a:t>%&gt;%</a:t>
            </a:r>
            <a:r>
              <a:rPr/>
              <a:t> symbol called and what does it do?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%&gt;%</a:t>
            </a:r>
            <a:r>
              <a:rPr/>
              <a:t> is the pipe.</a:t>
            </a:r>
          </a:p>
          <a:p>
            <a:pPr lvl="0" indent="0" marL="0">
              <a:buNone/>
            </a:pPr>
            <a:r>
              <a:rPr/>
              <a:t>It passes the data on its left-hand side to the function on the right.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would you pipe a dataset into if you wanted to see the first few rows?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head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is used to select rows from a dataset?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would you select rows where values in a numeric column are between 10 and 20?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dataset %&gt;% 
  filter(column &gt; 9 &amp; column &lt; 21)</a:t>
            </a:r>
          </a:p>
          <a:p>
            <a:pPr lvl="0" indent="0" marL="0">
              <a:buNone/>
            </a:pPr>
            <a:r>
              <a:rPr/>
              <a:t>If you wrote </a:t>
            </a:r>
            <a:r>
              <a:rPr>
                <a:latin typeface="Courier"/>
              </a:rPr>
              <a:t>dataset %&gt;% filter(column &gt; 10 &amp; column &lt; 20)</a:t>
            </a:r>
            <a:r>
              <a:rPr/>
              <a:t> this is almost right, but you would be excluding values of 10 and 20.</a:t>
            </a:r>
          </a:p>
          <a:p>
            <a:pPr lvl="0" indent="0" marL="0">
              <a:buNone/>
            </a:pPr>
            <a:r>
              <a:rPr/>
              <a:t>Normally when we say ‘between’ 10 and 20 we would include 10 and 20.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filter(column &gt;= 10 &amp; column &lt;= 20)</a:t>
            </a:r>
            <a:r>
              <a:rPr/>
              <a:t> also works, and works for non-integer values too.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is used to summarise data?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summarise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summary function would you use to calculate the mean of a numeric column?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summarise(mean(columnname))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would you calculate the median of a subset of rows in a data frame?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dataset %&gt;%
  filter(SOMETHING HERE) %&gt;%
  summarise(median(columnname))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3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functions are needed to make a boxplot?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a minimum, in this example we need the </a:t>
            </a:r>
            <a:r>
              <a:rPr>
                <a:latin typeface="Courier"/>
              </a:rPr>
              <a:t>ggplot</a:t>
            </a:r>
            <a:r>
              <a:rPr/>
              <a:t>, </a:t>
            </a:r>
            <a:r>
              <a:rPr>
                <a:latin typeface="Courier"/>
              </a:rPr>
              <a:t>aes</a:t>
            </a:r>
            <a:r>
              <a:rPr/>
              <a:t> and </a:t>
            </a:r>
            <a:r>
              <a:rPr>
                <a:latin typeface="Courier"/>
              </a:rPr>
              <a:t>geom_boxplot</a:t>
            </a:r>
            <a:r>
              <a:rPr/>
              <a:t> functions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fuel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(automatic, weight))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</a:t>
            </a:r>
          </a:p>
        </p:txBody>
      </p:sp>
      <p:pic>
        <p:nvPicPr>
          <p:cNvPr descr="check-your-knowledge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difference between a </a:t>
            </a:r>
            <a:r>
              <a:rPr>
                <a:latin typeface="Courier"/>
              </a:rPr>
              <a:t>dbl</a:t>
            </a:r>
            <a:r>
              <a:rPr/>
              <a:t> and a </a:t>
            </a:r>
            <a:r>
              <a:rPr>
                <a:latin typeface="Courier"/>
              </a:rPr>
              <a:t>fct</a:t>
            </a:r>
            <a:r>
              <a:rPr/>
              <a:t> or </a:t>
            </a:r>
            <a:r>
              <a:rPr>
                <a:latin typeface="Courier"/>
              </a:rPr>
              <a:t>ord</a:t>
            </a:r>
            <a:r>
              <a:rPr/>
              <a:t>?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>
                <a:latin typeface="Courier"/>
              </a:rPr>
              <a:t>dbl</a:t>
            </a:r>
            <a:r>
              <a:rPr/>
              <a:t> is a ‘double precision floating point number’</a:t>
            </a:r>
          </a:p>
          <a:p>
            <a:pPr lvl="0" indent="0" marL="0">
              <a:buNone/>
            </a:pPr>
            <a:r>
              <a:rPr/>
              <a:t>(that’s just ‘a number’ to you and me).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>
                <a:latin typeface="Courier"/>
              </a:rPr>
              <a:t>fct</a:t>
            </a:r>
            <a:r>
              <a:rPr/>
              <a:t> is a ‘factor’, so a categorical variable.</a:t>
            </a:r>
          </a:p>
          <a:p>
            <a:pPr lvl="0" indent="0" marL="0">
              <a:buNone/>
            </a:pPr>
            <a:r>
              <a:rPr/>
              <a:t>An </a:t>
            </a:r>
            <a:r>
              <a:rPr>
                <a:latin typeface="Courier"/>
              </a:rPr>
              <a:t>ord</a:t>
            </a:r>
            <a:r>
              <a:rPr/>
              <a:t> is an ‘ordinal’ variable, which is a factor in which the categories have an ordering.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data types are used for continuous variables?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dbl</a:t>
            </a:r>
            <a:r>
              <a:rPr/>
              <a:t> or </a:t>
            </a:r>
            <a:r>
              <a:rPr>
                <a:latin typeface="Courier"/>
              </a:rPr>
              <a:t>int</a:t>
            </a:r>
            <a:r>
              <a:rPr/>
              <a:t> (short for integer).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 an example of why the difference between </a:t>
            </a:r>
            <a:r>
              <a:rPr>
                <a:latin typeface="Courier"/>
              </a:rPr>
              <a:t>dbl</a:t>
            </a:r>
            <a:r>
              <a:rPr/>
              <a:t> and </a:t>
            </a:r>
            <a:r>
              <a:rPr>
                <a:latin typeface="Courier"/>
              </a:rPr>
              <a:t>fct</a:t>
            </a:r>
            <a:r>
              <a:rPr/>
              <a:t> matters when making a plot (include code examples for this if you can)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example would be this plot: In a boxplot we need the x axis to be a categorical variable, but in the </a:t>
            </a:r>
            <a:r>
              <a:rPr>
                <a:latin typeface="Courier"/>
              </a:rPr>
              <a:t>fuel</a:t>
            </a:r>
            <a:r>
              <a:rPr/>
              <a:t> data the </a:t>
            </a:r>
            <a:r>
              <a:rPr>
                <a:latin typeface="Courier"/>
              </a:rPr>
              <a:t>cyl</a:t>
            </a:r>
            <a:r>
              <a:rPr/>
              <a:t> variable is an integer, so we only get one box rather than 3.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fuel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cyl, weight))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Orientation is not uniquely specified when both the x and y aesthetics are
continuous. Picking default orientation 'x'.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Continuous x aesthetic
ℹ did you forget `aes(group = ...)`?</a:t>
            </a:r>
          </a:p>
        </p:txBody>
      </p:sp>
      <p:pic>
        <p:nvPicPr>
          <p:cNvPr descr="check-your-knowledge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fuel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(cyl), weight))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</a:t>
            </a:r>
          </a:p>
        </p:txBody>
      </p:sp>
      <p:pic>
        <p:nvPicPr>
          <p:cNvPr descr="check-your-knowledge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can you convert a variable from a </a:t>
            </a:r>
            <a:r>
              <a:rPr>
                <a:latin typeface="Courier"/>
              </a:rPr>
              <a:t>dbl</a:t>
            </a:r>
            <a:r>
              <a:rPr/>
              <a:t> to a </a:t>
            </a:r>
            <a:r>
              <a:rPr>
                <a:latin typeface="Courier"/>
              </a:rPr>
              <a:t>fct</a:t>
            </a:r>
            <a:r>
              <a:rPr/>
              <a:t>?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dataset %&gt;% 
  mutate(myvar_as_factor = factor(myvar))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could you calculate the mean for one level of a factor?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development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(continent</a:t>
            </a:r>
            <a:r>
              <a:rPr>
                <a:solidFill>
                  <a:srgbClr val="4070A0"/>
                </a:solidFill>
                <a:latin typeface="Courier"/>
              </a:rPr>
              <a:t>=="Africa"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summarise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(population))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`mean(population)`
               &lt;dbl&gt;
1           9916003.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would you calculate the mean for all levels of a factor (e.g. for continent in the </a:t>
            </a:r>
            <a:r>
              <a:rPr>
                <a:latin typeface="Courier"/>
              </a:rPr>
              <a:t>development</a:t>
            </a:r>
            <a:r>
              <a:rPr/>
              <a:t> dataset)?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development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(continent)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summarise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(population))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 × 2
  continent `mean(population)`
  &lt;fct&gt;                  &lt;dbl&gt;
1 Africa              9916003.
2 Americas           24504795.
3 Asia               77038722.
4 Europe             17169765.
5 Oceania             8874672.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would you calculate means and standard deviations for all combinations of levels in two factors?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development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(year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1960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(continent, year)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summarise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M=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(population), 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SD=</a:t>
            </a:r>
            <a:r>
              <a:rPr>
                <a:solidFill>
                  <a:srgbClr val="06287E"/>
                </a:solidFill>
                <a:latin typeface="Courier"/>
              </a:rPr>
              <a:t>sd</a:t>
            </a:r>
            <a:r>
              <a:rPr>
                <a:latin typeface="Courier"/>
              </a:rPr>
              <a:t>(population))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4
# Groups:   continent [5]
   continent  year         M         SD
   &lt;fct&gt;     &lt;int&gt;     &lt;dbl&gt;      &lt;dbl&gt;
 1 Africa     1952  4570010.   6317450.
 2 Africa     1957  5093033.   7076042.
 3 Americas   1952 13806098.  32341632.
 4 Americas   1957 15478157.  35537059.
 5 Asia       1952 42283556. 113226736.
 6 Asia       1957 47356988. 128096097.
 7 Europe     1952 13937362.  17247450.
 8 Europe     1957 14596345.  17832354.
 9 Oceania    1952  5343003    4735083.
10 Oceania    1957  5970988    5291395.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4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functions in R describe the central tendency of a variable?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mean()</a:t>
            </a:r>
            <a:r>
              <a:rPr/>
              <a:t> or </a:t>
            </a:r>
            <a:r>
              <a:rPr>
                <a:latin typeface="Courier"/>
              </a:rPr>
              <a:t>median()</a:t>
            </a:r>
            <a:r>
              <a:rPr/>
              <a:t>.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type of column can we use with </a:t>
            </a:r>
            <a:r>
              <a:rPr>
                <a:latin typeface="Courier"/>
              </a:rPr>
              <a:t>mean()</a:t>
            </a:r>
            <a:r>
              <a:rPr/>
              <a:t>?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Numeric (</a:t>
            </a:r>
            <a:r>
              <a:rPr>
                <a:latin typeface="Courier"/>
              </a:rPr>
              <a:t>dbl</a:t>
            </a:r>
            <a:r>
              <a:rPr/>
              <a:t> or </a:t>
            </a:r>
            <a:r>
              <a:rPr>
                <a:latin typeface="Courier"/>
              </a:rPr>
              <a:t>int</a:t>
            </a:r>
            <a:r>
              <a:rPr/>
              <a:t>).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might you describe patterns in a categorical variable?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Making a frequency table (or using a plot).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function did we use to create a new column in the </a:t>
            </a:r>
            <a:r>
              <a:rPr>
                <a:latin typeface="Courier"/>
              </a:rPr>
              <a:t>funimagery</a:t>
            </a:r>
            <a:r>
              <a:rPr/>
              <a:t> dataset?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</a:t>
            </a:r>
            <a:r>
              <a:rPr>
                <a:latin typeface="Courier"/>
              </a:rPr>
              <a:t>funimagery</a:t>
            </a:r>
            <a:r>
              <a:rPr/>
              <a:t> data, what was the mean change in weight (</a:t>
            </a:r>
            <a:r>
              <a:rPr>
                <a:latin typeface="Courier"/>
              </a:rPr>
              <a:t>kg3 - kg2</a:t>
            </a:r>
            <a:r>
              <a:rPr/>
              <a:t>) for FIT participants AFTER the end of treatment? (Remember that a negative number means weight was lost.)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funimagery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(intervention</a:t>
            </a:r>
            <a:r>
              <a:rPr>
                <a:solidFill>
                  <a:srgbClr val="4070A0"/>
                </a:solidFill>
                <a:latin typeface="Courier"/>
              </a:rPr>
              <a:t>=="FIT"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summarise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(kg3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kg2))</a:t>
            </a:r>
          </a:p>
          <a:p>
            <a:pPr lvl="0" indent="0">
              <a:buNone/>
            </a:pPr>
            <a:r>
              <a:rPr>
                <a:latin typeface="Courier"/>
              </a:rPr>
              <a:t>  mean(kg3 - kg2)
1       -2.335593</a:t>
            </a:r>
          </a:p>
          <a:p>
            <a:pPr lvl="0" indent="0" marL="0">
              <a:buNone/>
            </a:pPr>
            <a:r>
              <a:rPr/>
              <a:t>The mean change was -2.34 kg: because the number is negative, FIT participants lost (on average) a further 2.34 kg after the end of treatment.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type of plot describes the relationship between two variables?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Scatterplot.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function do we use to make a plot that shows a relationship between two variables in </a:t>
            </a:r>
            <a:r>
              <a:rPr>
                <a:latin typeface="Courier"/>
              </a:rPr>
              <a:t>ggplot()</a:t>
            </a:r>
            <a:r>
              <a:rPr/>
              <a:t>?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geom_point()</a:t>
            </a:r>
            <a:r>
              <a:rPr/>
              <a:t> (or </a:t>
            </a:r>
            <a:r>
              <a:rPr>
                <a:latin typeface="Courier"/>
              </a:rPr>
              <a:t>geom_jitter()</a:t>
            </a:r>
            <a:r>
              <a:rPr/>
              <a:t>).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5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hypotheses are being compared when we calculate a Bayes Factor for a correlation?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H1</a:t>
            </a:r>
          </a:p>
          <a:p>
            <a:pPr lvl="0" indent="0" marL="1270000">
              <a:buNone/>
            </a:pPr>
            <a:r>
              <a:rPr sz="2000"/>
              <a:t>There is a correlation between x and y</a:t>
            </a:r>
          </a:p>
          <a:p>
            <a:pPr lvl="0" indent="0" marL="0">
              <a:buNone/>
            </a:pPr>
            <a:r>
              <a:rPr b="1"/>
              <a:t>H0</a:t>
            </a:r>
          </a:p>
          <a:p>
            <a:pPr lvl="0" indent="0" marL="1270000">
              <a:buNone/>
            </a:pPr>
            <a:r>
              <a:rPr sz="2000"/>
              <a:t>There is NO correlation between x and y</a:t>
            </a:r>
          </a:p>
          <a:p>
            <a:pPr lvl="0" indent="0" marL="0">
              <a:buNone/>
            </a:pPr>
            <a:r>
              <a:rPr/>
              <a:t>The Bayes Factor tells us how many times more likely the data are under H1 than under H0.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do we recommend to calculate correlation coefficients?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correlate()</a:t>
            </a:r>
            <a:r>
              <a:rPr/>
              <a:t> in the </a:t>
            </a:r>
            <a:r>
              <a:rPr>
                <a:latin typeface="Courier"/>
              </a:rPr>
              <a:t>corrr</a:t>
            </a:r>
            <a:r>
              <a:rPr/>
              <a:t> package.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calculates the Bayes Factor for a correlation?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correlationBF()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calculates the Bayes Factor for a difference in the average of two groups?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ttestBF()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direction slope does a correlation of -0.5 imply? What would the scatterplot look like?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negative relationship: the slope goes down. As x increases, y tends to decrease, so the points slope downwards from left to right.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conclusion should we draw if the Bayes Factor for a correlation is 2.1? How about if it was 0.21, or 210?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2.1 is inconclusive (it is between 1/3 and 3)</a:t>
                </a:r>
              </a:p>
              <a:p>
                <a:pPr lvl="0"/>
                <a:r>
                  <a:rPr/>
                  <a:t>0.21 is moderate evidence against the correlation (i.e. for the null hypothesis), because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0.21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4.76</m:t>
                    </m:r>
                  </m:oMath>
                </a14:m>
                <a:r>
                  <a:rPr/>
                  <a:t>: the data are about 4.8 times more likely under H0 than H1</a:t>
                </a:r>
              </a:p>
              <a:p>
                <a:pPr lvl="0"/>
                <a:r>
                  <a:rPr/>
                  <a:t>210 is strong evidence in favour of the correlation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conclusion should we draw if the Bayes Factor for a t test is 0.8? How about if it were &gt; 10?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0.8 is inconclusive</a:t>
            </a:r>
          </a:p>
          <a:p>
            <a:pPr lvl="0"/>
            <a:r>
              <a:rPr/>
              <a:t>&gt;10 is strong evidence for a difference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difference between </a:t>
            </a:r>
            <a:r>
              <a:rPr>
                <a:latin typeface="Courier"/>
              </a:rPr>
              <a:t>ttestBF()</a:t>
            </a:r>
            <a:r>
              <a:rPr/>
              <a:t> and </a:t>
            </a:r>
            <a:r>
              <a:rPr>
                <a:latin typeface="Courier"/>
              </a:rPr>
              <a:t>correlationBF()</a:t>
            </a:r>
            <a:r>
              <a:rPr/>
              <a:t>?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ttestBF()</a:t>
            </a:r>
            <a:r>
              <a:rPr/>
              <a:t> calculates the BF for a difference between two groups; </a:t>
            </a:r>
            <a:r>
              <a:rPr>
                <a:latin typeface="Courier"/>
              </a:rPr>
              <a:t>correlationBF()</a:t>
            </a:r>
            <a:r>
              <a:rPr/>
              <a:t> calculates the BF for a correlation between two continuous variables.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6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intercept?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expected value of the outcome when the predictor is equal to zero.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slope?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increase in the outcome for a unit change in the predictor.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residual?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distance between an observed outcome value and the value predicted by the best fit line.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fits a regression model?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lm()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function calculates residuals and predictions from a saved </a:t>
            </a:r>
            <a:r>
              <a:rPr>
                <a:latin typeface="Courier"/>
              </a:rPr>
              <a:t>lm</a:t>
            </a:r>
            <a:r>
              <a:rPr/>
              <a:t> model?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augment()</a:t>
            </a:r>
            <a:r>
              <a:rPr/>
              <a:t> (from the </a:t>
            </a:r>
            <a:r>
              <a:rPr>
                <a:latin typeface="Courier"/>
              </a:rPr>
              <a:t>broom</a:t>
            </a:r>
            <a:r>
              <a:rPr/>
              <a:t> package). It adds the </a:t>
            </a:r>
            <a:r>
              <a:rPr>
                <a:latin typeface="Courier"/>
              </a:rPr>
              <a:t>.fitted</a:t>
            </a:r>
            <a:r>
              <a:rPr/>
              <a:t> and </a:t>
            </a:r>
            <a:r>
              <a:rPr>
                <a:latin typeface="Courier"/>
              </a:rPr>
              <a:t>.resid</a:t>
            </a:r>
            <a:r>
              <a:rPr/>
              <a:t> columns.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the three assumptions of regression introduced in this session?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The ‘true’ best-fit line is straight (i.e. </a:t>
            </a:r>
            <a:r>
              <a:rPr i="1"/>
              <a:t>not</a:t>
            </a:r>
            <a:r>
              <a:rPr/>
              <a:t> curved)</a:t>
            </a:r>
          </a:p>
          <a:p>
            <a:pPr lvl="0" indent="-342900" marL="342900">
              <a:buAutoNum type="arabicPeriod"/>
            </a:pPr>
            <a:r>
              <a:rPr/>
              <a:t>Model residuals are approximately normal</a:t>
            </a:r>
          </a:p>
          <a:p>
            <a:pPr lvl="0" indent="-342900" marL="342900">
              <a:buAutoNum type="arabicPeriod"/>
            </a:pPr>
            <a:r>
              <a:rPr/>
              <a:t>The residuals are of equal size along the regression line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7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prefer models with smaller or larger residuals?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Smaller.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statistic ranges from …?</a:t>
                </a:r>
              </a:p>
            </p:txBody>
          </p:sp>
        </mc:Choice>
      </mc:AlternateContent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 to 1.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It’s better for a model to have a smaller or larger </a:t>
                </a: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value?</a:t>
                </a:r>
              </a:p>
            </p:txBody>
          </p:sp>
        </mc:Choice>
      </mc:AlternateContent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Larger.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we calculate the Bayes Factor for </a:t>
            </a:r>
            <a:r>
              <a:rPr>
                <a:latin typeface="Courier"/>
              </a:rPr>
              <a:t>modelA / modelB</a:t>
            </a:r>
            <a:r>
              <a:rPr/>
              <a:t> and the result is &gt; 1, this provides evidence that …?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have more evidence for model A than model B: the data are more likely under model A than under model B.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Bayes Factor of 25 means we have … evidence?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Strong evidence.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Bayes Factor of 0.05 means we have …?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Strong evidence for the other hypothesis (e.g. the null).</a:t>
                </a:r>
              </a:p>
              <a:p>
                <a:pPr lvl="0" indent="0" marL="0">
                  <a:buNone/>
                </a:pPr>
                <a:r>
                  <a:rPr/>
                  <a:t>Taking the reciprocal,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0.05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20</m:t>
                    </m:r>
                  </m:oMath>
                </a14:m>
                <a:r>
                  <a:rPr/>
                  <a:t>: the data are 20 times more likely under the other hypothesis.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lifesavR ‘Check your knowledge’ questions and answers</dc:title>
  <dc:creator>Ben Whalley</dc:creator>
  <cp:keywords/>
  <dcterms:created xsi:type="dcterms:W3CDTF">2026-09-25T14:31:08Z</dcterms:created>
  <dcterms:modified xsi:type="dcterms:W3CDTF">2026-09-25T14:31:08Z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